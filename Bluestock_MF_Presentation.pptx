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BLUESTOCK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B3A6B"/>
                </a:solidFill>
              </a:rPr>
              <a:t>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Capstone Project —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B4D8"/>
                </a:solidFill>
              </a:rPr>
              <a:t>Performance Analytics | Risk Metrics | Dashboard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840480"/>
            <a:ext cx="6702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Submitted by: Team 22A22J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sudhamalladeekshitha | Batch: 22A22J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Problem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🔍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63636"/>
                </a:solidFill>
              </a:rPr>
              <a:t>• Investors lack tools to compare 40+ mutual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63636"/>
                </a:solidFill>
              </a:rPr>
              <a:t>• No unified view of risk vs return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63636"/>
                </a:solidFill>
              </a:rPr>
              <a:t>• SIP continuity and investor behavior untracked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63636"/>
                </a:solidFill>
              </a:rPr>
              <a:t>• Fund performance vs benchmark unclear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🎯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Build end-to-end MF analytics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Compute 8+ performance metrics for 40 funds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Develop interactive Power BI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Generate fund scorecard &amp;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Deliver professional report &amp;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Data Sources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NAV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Daily NAV for 40 funds
2019–2024 (1,566 days)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56032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54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Nifty 50/100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Benchmark index data
for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56032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Expense Ratios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Annual TER for all
40 fund schemes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56032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554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Investor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834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1,270 transactions
across 93 investors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Pipeline: CSV Files → Python (Pandas/NumPy/SciPy) → SQLite → Power BI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212080"/>
            <a:ext cx="103601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6B"/>
                </a:solidFill>
              </a:rPr>
              <a:t>Project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103120" cy="32004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Load 40 fund NAVs
+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2103120" cy="32004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554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ETL &amp;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Validate, clean
&amp; normalize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2103120" cy="32004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554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Analytics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Metrics: CAGR, Sharpe
VaR, Alpha,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371600"/>
            <a:ext cx="2103120" cy="32004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554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Composite scorecard
0-100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1371600"/>
            <a:ext cx="2103120" cy="32004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1554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8346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Power BI 4-page
interactive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EDA Highlights — NAV &amp;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1,566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Trading Days
2019–2024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Mutual Fund
Schemes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0.04%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Daily
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188720"/>
            <a:ext cx="2560320" cy="1828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Daily
Volatility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63636"/>
                </a:solidFill>
              </a:rPr>
              <a:t>Key Finding: Daily returns follow approximately normal distribution centered near 0, confirming efficient market behavior. Small cap funds show higher volatility (±2%) vs large cap funds (±1%).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1247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Top 5yr CAGR Leaders: Tata Large Cap (85%), DSP Midcap (75%), ICICI Pru Midcap (72%), Nippon Small Cap (66%), Canara Robeco (62%)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EDA Highlights — Investor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👥 93 Investors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Across 5 cohorts
(2019–2023)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💰 ₹5,402 Avg SIP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Monthly investment
per investor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2560320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⚠️ 53 At-Risk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Investors with SIP gap
&gt; 35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188720"/>
            <a:ext cx="2560320" cy="2011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📅 2022 Peak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Highest total invested
cohort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63636"/>
                </a:solidFill>
              </a:rPr>
              <a:t>SIP Continuity Analysis: 60% investors (35 of 88 with 6+ SIPs) maintain regular intervals. 40% are flagged At-Risk with avg gap &gt; 35 days — suggesting need for SIP reminder campaigns.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Performance Metrics — Risk &amp;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1546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188720"/>
            <a:ext cx="150876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123444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CAGR 3yr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188720"/>
            <a:ext cx="150876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23444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Sharpe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150876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23444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Sortino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150876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23444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Alpha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188720"/>
            <a:ext cx="150876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23444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91640"/>
            <a:ext cx="31546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Tata Large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69164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39" y="17373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85.28%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69164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7373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69164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7373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69164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7373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2.14%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69164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7373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0.98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94560"/>
            <a:ext cx="3154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DSP Midcap Fund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219456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39" y="224028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75.53%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19456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24028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19456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24028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19456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224028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1.87%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219456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224028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697480"/>
            <a:ext cx="31546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Nippon India SC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69748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39" y="27432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65.72%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269748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27432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1.49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269748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27432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1.96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269748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80" y="27432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1.65%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269748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60" y="27432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1.21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200400"/>
            <a:ext cx="3154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Canara Robeco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320040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39" y="324612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61.53%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320040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324612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320040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324612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1.98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320040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324612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1.59%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3200400"/>
            <a:ext cx="1508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60" y="324612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0.95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703320"/>
            <a:ext cx="315468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37490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ICICI Pru Midcap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74720" y="370332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0439" y="3749039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72.15%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370332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74920" y="3749039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1.47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370332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29400" y="3749039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1.93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370332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83880" y="3749039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1.71%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92640" y="3703320"/>
            <a:ext cx="15087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38360" y="3749039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1.08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63636"/>
                </a:solidFill>
              </a:rPr>
              <a:t>Risk-free rate: 6.5% (RBI Repo Rate)  |  Benchmark: Nifty 100  |  Period: 2019–2024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Performance Metrics — VaR &amp; Drawdown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Highest VaR (95%)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Nippon India Small Cap
-2.16% per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Lowest VaR (95%)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HDFC Top 100 Fund
-0.98% per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Worst Drawdown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Small Cap Funds
~35% during 2020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188720"/>
            <a:ext cx="2560320" cy="228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 HHI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Low concentration
Multi-sector funds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63636"/>
                </a:solidFill>
              </a:rPr>
              <a:t>CVaR (Conditional VaR): Average loss on worst 5% days. Small cap funds average -2.7% on worst days vs -1.4% for large cap funds — confirming higher tail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Power BI Dashboard — Page 1 &amp;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📊 Page 1: Industry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• KPI Cards: AUM ₹81L Cr, SIP ₹31K Cr
• Industry AUM Trend 2022–2025
• AUM by AMC Bar Chart
• 4 Interactive KPI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54864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📈 Page 2: Fund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• Scatter: Return vs Risk (40 funds)
• Sortable Fund Scorecard Table
• NAV vs Benchmark Line Chart
• Slicers: Fund House, Category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Power BI Dashboard — Page 3 &amp; 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👥 Page 3: Investor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• Bar: Transaction Amount by State
• Donut: SIP/Lumpsum/Redemption
• Age Group vs Avg SIP Amount
• Monthly Transaction Volume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54864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📅 Page 4: SIP &amp; Market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• Dual-axis: SIP + Nifty 50 trend
• Category Inflow Heatmap
• Top 5 Categories Net Inflow FY25
• Bluestock theme applied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16128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Top Performer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Tata Large Cap Fund leads with Score 88.88/100, CAGR 85% over 3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16128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402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Best Risk-Adj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Canara Robeco Bluechip has highest Sharpe (1.50) — best risk-adjusted 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116128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54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Highest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546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Small cap funds show VaR &gt;2% — suitable only for High risk investors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116128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SIP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40% investors at-risk of SIP dropout — recommend automated reminders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46320"/>
            <a:ext cx="116128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Sector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3636"/>
                </a:solidFill>
              </a:rPr>
              <a:t>Axis Midcap (HHI 0.35) most concentrated — Banking/IT heavy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B3A6B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B3A6B"/>
                </a:solidFill>
              </a:rPr>
              <a:t>Bluestock Fintech —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sudhamalladeekshitha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Batch: 22A22J  |  Bluestock Fintech Internship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14800"/>
            <a:ext cx="85313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B4D8"/>
                </a:solidFill>
              </a:rPr>
              <a:t>Deliverables: Performance_Analytics.ipynb  |  Advanced_Analytics.py  |  bluestock_mf_dashboard.pbix  |  Final_Report.pdf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